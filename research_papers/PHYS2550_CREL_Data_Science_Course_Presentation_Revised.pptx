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4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34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pic>
        <p:nvPicPr>
          <p:cNvPr id="4" name="Picture 3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03635"/>
            <a:ext cx="5577840" cy="3136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PHYS 2550 — Data Science for Physicists and Scientists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A 2000-level CREL course built from real astronomical data-analysis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13258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00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07D8C"/>
                </a:solidFill>
              </a:defRPr>
            </a:pPr>
            <a:r>
              <a:t>Course purpose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Students learn to turn messy scientific measurements into defensible results using Python, plots, model fits, uncertainty checks, and reproducible notebooks.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5212080" cy="1143000"/>
          </a:xfrm>
          <a:prstGeom prst="roundRect">
            <a:avLst/>
          </a:prstGeom>
          <a:solidFill>
            <a:srgbClr val="FAF1E7"/>
          </a:solidFill>
          <a:ln w="19050">
            <a:solidFill>
              <a:srgbClr val="CC6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CC6F23"/>
                </a:solidFill>
              </a:defRPr>
            </a:pPr>
            <a:r>
              <a:t>Core scientific habit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Do not trust an automated result until the data, residuals, model assumptions, and physical interpretation have been checked.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5212080" cy="960120"/>
          </a:xfrm>
          <a:prstGeom prst="roundRect">
            <a:avLst/>
          </a:prstGeom>
          <a:solidFill>
            <a:srgbClr val="EDF7F0"/>
          </a:solidFill>
          <a:ln w="19050">
            <a:solidFill>
              <a:srgbClr val="48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48845B"/>
                </a:solidFill>
              </a:defRPr>
            </a:pPr>
            <a:r>
              <a:t>Course level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Start with an accessible 2000-level course; build toward a future advanced astrophysics data-science course.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806440"/>
            <a:ext cx="9966960" cy="384048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62626"/>
                </a:solidFill>
              </a:defRPr>
            </a:pPr>
            <a:r>
              <a:t>The NGC 6569 analysis provides a complete case study: photometry, astrometry, spectroscopy, SED fitting, and quality-controlled summary tables.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1097280"/>
            <a:ext cx="11247120" cy="507492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Why astronomy makes a good data-science laboratory</a:t>
            </a:r>
          </a:p>
        </p:txBody>
      </p:sp>
      <p:pic>
        <p:nvPicPr>
          <p:cNvPr id="5" name="Picture 4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984" y="1097280"/>
            <a:ext cx="902555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6099048"/>
            <a:ext cx="9966960" cy="347472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Students see how one scientific question draws on surveys, catalogs, spectra, models, and visual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The three measurement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Photometry, spectra, and astrometry become a data-integration problem</a:t>
            </a:r>
          </a:p>
        </p:txBody>
      </p:sp>
      <p:pic>
        <p:nvPicPr>
          <p:cNvPr id="6" name="Picture 5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2260"/>
            <a:ext cx="5760720" cy="32391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325880"/>
            <a:ext cx="4663440" cy="9144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00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07D8C"/>
                </a:solidFill>
              </a:defRPr>
            </a:pPr>
            <a:r>
              <a:t>Photometry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Brightness through filters → colors, temperatures, CMDs, extinction corrections, SEDs.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514600"/>
            <a:ext cx="4663440" cy="914400"/>
          </a:xfrm>
          <a:prstGeom prst="roundRect">
            <a:avLst/>
          </a:prstGeom>
          <a:solidFill>
            <a:srgbClr val="FAF1E7"/>
          </a:solidFill>
          <a:ln w="19050">
            <a:solidFill>
              <a:srgbClr val="CC6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CC6F23"/>
                </a:solidFill>
              </a:defRPr>
            </a:pPr>
            <a:r>
              <a:t>Spectroscopy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Flux versus wavelength → line strengths, radial velocities, metallicity, model residuals.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703320"/>
            <a:ext cx="4663440" cy="914400"/>
          </a:xfrm>
          <a:prstGeom prst="roundRect">
            <a:avLst/>
          </a:prstGeom>
          <a:solidFill>
            <a:srgbClr val="EDF7F0"/>
          </a:solidFill>
          <a:ln w="19050">
            <a:solidFill>
              <a:srgbClr val="48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48845B"/>
                </a:solidFill>
              </a:defRPr>
            </a:pPr>
            <a:r>
              <a:t>Astrometry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Positions, parallaxes, and proper motions → distances, motion, membership, selection effects.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760720"/>
            <a:ext cx="9966960" cy="384048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62626"/>
                </a:solidFill>
              </a:defRPr>
            </a:pPr>
            <a:r>
              <a:t>This framing gives students a coherent map of the course: each data type answers a different scientific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From raw files to a defensible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The course uses pieces of a real workflow as lab modules</a:t>
            </a:r>
          </a:p>
        </p:txBody>
      </p:sp>
      <p:pic>
        <p:nvPicPr>
          <p:cNvPr id="6" name="Picture 5" descr="ngc_6569_analysis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914" y="1110996"/>
            <a:ext cx="817186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A 2000-level workflow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The same scientific logic, scaled to a lower-division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737360" cy="11430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400" b="1">
                <a:solidFill>
                  <a:srgbClr val="16264B"/>
                </a:solidFill>
              </a:defRPr>
            </a:pPr>
            <a:r>
              <a:t>Read</a:t>
            </a:r>
          </a:p>
          <a:p>
            <a:pPr algn="ctr">
              <a:defRPr sz="1050">
                <a:solidFill>
                  <a:srgbClr val="262626"/>
                </a:solidFill>
              </a:defRPr>
            </a:pPr>
            <a:r>
              <a:t>CSV, FITS, text spectra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12848" y="1879092"/>
            <a:ext cx="201168" cy="219456"/>
          </a:xfrm>
          <a:prstGeom prst="rightArrow">
            <a:avLst/>
          </a:prstGeom>
          <a:solidFill>
            <a:srgbClr val="16264B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86584" y="1417320"/>
            <a:ext cx="1737360" cy="114300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400" b="1">
                <a:solidFill>
                  <a:srgbClr val="16264B"/>
                </a:solidFill>
              </a:defRPr>
            </a:pPr>
            <a:r>
              <a:t>Clean</a:t>
            </a:r>
          </a:p>
          <a:p>
            <a:pPr algn="ctr">
              <a:defRPr sz="1050">
                <a:solidFill>
                  <a:srgbClr val="262626"/>
                </a:solidFill>
              </a:defRPr>
            </a:pPr>
            <a:r>
              <a:t>flags, missing data, outliers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6512" y="1879092"/>
            <a:ext cx="201168" cy="219456"/>
          </a:xfrm>
          <a:prstGeom prst="rightArrow">
            <a:avLst/>
          </a:prstGeom>
          <a:solidFill>
            <a:srgbClr val="16264B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70248" y="1417320"/>
            <a:ext cx="1737360" cy="1143000"/>
          </a:xfrm>
          <a:prstGeom prst="roundRect">
            <a:avLst/>
          </a:prstGeom>
          <a:solidFill>
            <a:srgbClr val="FAF1E7"/>
          </a:solidFill>
          <a:ln w="1270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400" b="1">
                <a:solidFill>
                  <a:srgbClr val="16264B"/>
                </a:solidFill>
              </a:defRPr>
            </a:pPr>
            <a:r>
              <a:t>Plot</a:t>
            </a:r>
          </a:p>
          <a:p>
            <a:pPr algn="ctr">
              <a:defRPr sz="1050">
                <a:solidFill>
                  <a:srgbClr val="262626"/>
                </a:solidFill>
              </a:defRPr>
            </a:pPr>
            <a:r>
              <a:t>CMDs, spectra, residuals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0176" y="1879092"/>
            <a:ext cx="201168" cy="219456"/>
          </a:xfrm>
          <a:prstGeom prst="rightArrow">
            <a:avLst/>
          </a:prstGeom>
          <a:solidFill>
            <a:srgbClr val="16264B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53912" y="1417320"/>
            <a:ext cx="1737360" cy="11430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400" b="1">
                <a:solidFill>
                  <a:srgbClr val="16264B"/>
                </a:solidFill>
              </a:defRPr>
            </a:pPr>
            <a:r>
              <a:t>Fit</a:t>
            </a:r>
          </a:p>
          <a:p>
            <a:pPr algn="ctr">
              <a:defRPr sz="1050">
                <a:solidFill>
                  <a:srgbClr val="262626"/>
                </a:solidFill>
              </a:defRPr>
            </a:pPr>
            <a:r>
              <a:t>simple models, uncertainties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63840" y="1879092"/>
            <a:ext cx="201168" cy="219456"/>
          </a:xfrm>
          <a:prstGeom prst="rightArrow">
            <a:avLst/>
          </a:prstGeom>
          <a:solidFill>
            <a:srgbClr val="16264B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37576" y="1417320"/>
            <a:ext cx="1737360" cy="114300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400" b="1">
                <a:solidFill>
                  <a:srgbClr val="16264B"/>
                </a:solidFill>
              </a:defRPr>
            </a:pPr>
            <a:r>
              <a:t>Check</a:t>
            </a:r>
          </a:p>
          <a:p>
            <a:pPr algn="ctr">
              <a:defRPr sz="1050">
                <a:solidFill>
                  <a:srgbClr val="262626"/>
                </a:solidFill>
              </a:defRPr>
            </a:pPr>
            <a:r>
              <a:t>diagnostics and quality flags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47504" y="1879092"/>
            <a:ext cx="201168" cy="219456"/>
          </a:xfrm>
          <a:prstGeom prst="rightArrow">
            <a:avLst/>
          </a:prstGeom>
          <a:solidFill>
            <a:srgbClr val="16264B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21240" y="1417320"/>
            <a:ext cx="1737360" cy="1143000"/>
          </a:xfrm>
          <a:prstGeom prst="roundRect">
            <a:avLst/>
          </a:prstGeom>
          <a:solidFill>
            <a:srgbClr val="FAF1E7"/>
          </a:solidFill>
          <a:ln w="1270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rtlCol="0" anchor="ctr"/>
          <a:lstStyle/>
          <a:p>
            <a:pPr algn="ctr">
              <a:defRPr sz="1400" b="1">
                <a:solidFill>
                  <a:srgbClr val="16264B"/>
                </a:solidFill>
              </a:defRPr>
            </a:pPr>
            <a:r>
              <a:t>Report</a:t>
            </a:r>
          </a:p>
          <a:p>
            <a:pPr algn="ctr">
              <a:defRPr sz="1050">
                <a:solidFill>
                  <a:srgbClr val="262626"/>
                </a:solidFill>
              </a:defRPr>
            </a:pPr>
            <a:r>
              <a:t>notebook, table, memo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108960"/>
            <a:ext cx="4846320" cy="19202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62626"/>
                </a:solidFill>
              </a:defRPr>
            </a:pPr>
            <a:r>
              <a:t>Students learn why each step exists, not just how to run code.</a:t>
            </a:r>
          </a:p>
          <a:p>
            <a:pPr>
              <a:spcAft>
                <a:spcPts val="600"/>
              </a:spcAft>
              <a:defRPr sz="2000">
                <a:solidFill>
                  <a:srgbClr val="262626"/>
                </a:solidFill>
              </a:defRPr>
            </a:pPr>
            <a:r>
              <a:t>Every lab produces a plot, a short interpretation, and a reproducible notebook cell.</a:t>
            </a:r>
          </a:p>
          <a:p>
            <a:pPr>
              <a:spcAft>
                <a:spcPts val="600"/>
              </a:spcAft>
              <a:defRPr sz="2000">
                <a:solidFill>
                  <a:srgbClr val="262626"/>
                </a:solidFill>
              </a:defRPr>
            </a:pPr>
            <a:r>
              <a:t>The final project combines the same steps into a mini research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4937760" cy="13716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6264B"/>
                </a:solidFill>
              </a:defRPr>
            </a:pPr>
            <a:r>
              <a:t>Best-practice emphasis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A good result includes a numerical value, uncertainty, plot, residual check, and an honest quality flag.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63440"/>
            <a:ext cx="4937760" cy="1051560"/>
          </a:xfrm>
          <a:prstGeom prst="roundRect">
            <a:avLst/>
          </a:prstGeom>
          <a:solidFill>
            <a:srgbClr val="FAF1E7"/>
          </a:solidFill>
          <a:ln w="19050">
            <a:solidFill>
              <a:srgbClr val="CC6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CC6F23"/>
                </a:solidFill>
              </a:defRPr>
            </a:pPr>
            <a:r>
              <a:t>AI integration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AI tools can help generate or debug code, but the student must verify the code and own the scientific interpretation.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1097280"/>
            <a:ext cx="11247120" cy="507492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Photometry: brightness, filters, and measurement choices</a:t>
            </a:r>
          </a:p>
        </p:txBody>
      </p:sp>
      <p:pic>
        <p:nvPicPr>
          <p:cNvPr id="5" name="Picture 4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984" y="1097280"/>
            <a:ext cx="902555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6099048"/>
            <a:ext cx="9966960" cy="347472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Students learn that a magnitude or color is a measured quantity with aperture choices, uncertainties, and calibration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Color–magnitude diagrams as scientific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A visual entry point to stellar populations and sample selection</a:t>
            </a:r>
          </a:p>
        </p:txBody>
      </p:sp>
      <p:pic>
        <p:nvPicPr>
          <p:cNvPr id="6" name="Picture 5" descr="cmd_marked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1188720"/>
            <a:ext cx="5513845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4937760" cy="2834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Use dereddened magnitudes and colors.</a:t>
            </a:r>
          </a:p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Identify RGB, AGB, horizontal branch, red clump, subgiant branch, and main-sequence turnoff regions.</a:t>
            </a:r>
          </a:p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Apply selection rules and explain what is included or excluded.</a:t>
            </a:r>
          </a:p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Connect visual structure to physical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526280"/>
            <a:ext cx="4892040" cy="1005840"/>
          </a:xfrm>
          <a:prstGeom prst="roundRect">
            <a:avLst/>
          </a:prstGeom>
          <a:solidFill>
            <a:srgbClr val="EDF7F0"/>
          </a:solidFill>
          <a:ln w="19050">
            <a:solidFill>
              <a:srgbClr val="48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48845B"/>
                </a:solidFill>
              </a:defRPr>
            </a:pPr>
            <a:r>
              <a:t>Lab idea</a:t>
            </a:r>
          </a:p>
          <a:p>
            <a:pPr>
              <a:defRPr sz="1400">
                <a:solidFill>
                  <a:srgbClr val="262626"/>
                </a:solidFill>
              </a:defRPr>
            </a:pPr>
            <a:r>
              <a:t>Build a CMD from BDBS/Gaia-style data, add error cuts, mark selected targets, and write a paragraph explaining the sample.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66A0C-1017-D616-26BC-907F8965EDEF}"/>
              </a:ext>
            </a:extLst>
          </p:cNvPr>
          <p:cNvSpPr txBox="1"/>
          <p:nvPr/>
        </p:nvSpPr>
        <p:spPr>
          <a:xfrm>
            <a:off x="2757053" y="5806193"/>
            <a:ext cx="210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 ~ Temperature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DA732-290D-FB7B-92EB-E6CAB5CADB44}"/>
              </a:ext>
            </a:extLst>
          </p:cNvPr>
          <p:cNvSpPr txBox="1"/>
          <p:nvPr/>
        </p:nvSpPr>
        <p:spPr>
          <a:xfrm rot="16200000">
            <a:off x="-747978" y="2857916"/>
            <a:ext cx="24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Brightness ~ Magnitude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1097280"/>
            <a:ext cx="11247120" cy="507492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Astrometry: positions, parallax, and proper motion</a:t>
            </a:r>
          </a:p>
        </p:txBody>
      </p:sp>
      <p:pic>
        <p:nvPicPr>
          <p:cNvPr id="5" name="Picture 4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984" y="1097280"/>
            <a:ext cx="902555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6099048"/>
            <a:ext cx="9966960" cy="347472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Gaia-style data let students connect catalog quantities to distance, motion, membership, and selection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Spectroscopy turns light into physical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570489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007D8C"/>
                </a:solidFill>
              </a:rPr>
              <a:t>Wavelength shifts and line strengths become </a:t>
            </a:r>
            <a:r>
              <a:rPr lang="en-US" sz="1250" dirty="0">
                <a:solidFill>
                  <a:srgbClr val="007D8C"/>
                </a:solidFill>
              </a:rPr>
              <a:t>radial </a:t>
            </a:r>
            <a:r>
              <a:rPr sz="1250" dirty="0">
                <a:solidFill>
                  <a:srgbClr val="007D8C"/>
                </a:solidFill>
              </a:rPr>
              <a:t>velocities</a:t>
            </a:r>
            <a:r>
              <a:rPr lang="en-US" sz="1250" dirty="0">
                <a:solidFill>
                  <a:srgbClr val="007D8C"/>
                </a:solidFill>
              </a:rPr>
              <a:t> (RV)</a:t>
            </a:r>
            <a:r>
              <a:rPr sz="1250" dirty="0">
                <a:solidFill>
                  <a:srgbClr val="007D8C"/>
                </a:solidFill>
              </a:rPr>
              <a:t> and chemical clues</a:t>
            </a:r>
          </a:p>
        </p:txBody>
      </p:sp>
      <p:pic>
        <p:nvPicPr>
          <p:cNvPr id="6" name="Picture 5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15088"/>
            <a:ext cx="5669280" cy="3187743"/>
          </a:xfrm>
          <a:prstGeom prst="rect">
            <a:avLst/>
          </a:prstGeom>
        </p:spPr>
      </p:pic>
      <p:pic>
        <p:nvPicPr>
          <p:cNvPr id="7" name="Picture 6" descr="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92210"/>
            <a:ext cx="5394960" cy="303349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532120"/>
            <a:ext cx="10698480" cy="54864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62626"/>
                </a:solidFill>
              </a:defRPr>
            </a:pPr>
            <a:r>
              <a:t>Students compare blue and red spectral regions: rich blue spectra can constrain many parameters; the red Ca II triplet is powerful for faint, reddened stars.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C61C4-0EFD-F535-3D9B-341A0264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78" y="0"/>
            <a:ext cx="9374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9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1097280"/>
            <a:ext cx="11247120" cy="507492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Spectral fitting diagnostics</a:t>
            </a:r>
          </a:p>
        </p:txBody>
      </p:sp>
      <p:pic>
        <p:nvPicPr>
          <p:cNvPr id="5" name="Picture 4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984" y="1097280"/>
            <a:ext cx="902555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6099048"/>
            <a:ext cx="9966960" cy="347472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The class can inspect normalized spectra, line-profile fits, SP_Ace/SPACE model regions, and sky-line residuals.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dirty="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SED fitting as a physical sanity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Photometry can test whether the spectroscopic solution is plausible</a:t>
            </a:r>
          </a:p>
        </p:txBody>
      </p:sp>
      <p:pic>
        <p:nvPicPr>
          <p:cNvPr id="6" name="Picture 5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993" y="1442572"/>
            <a:ext cx="6834025" cy="38426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577840"/>
            <a:ext cx="10607040" cy="50292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62626"/>
                </a:solidFill>
              </a:defRPr>
            </a:pPr>
            <a:r>
              <a:rPr dirty="0"/>
              <a:t>Students learn that SED disagreement is a caution flag, not an automatic rejection: RGB, AGB, and HB stars may be variable</a:t>
            </a:r>
            <a:r>
              <a:rPr lang="en-US" dirty="0"/>
              <a:t>,</a:t>
            </a:r>
            <a:r>
              <a:rPr dirty="0"/>
              <a:t> and photometry may be non-simultaneous.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C7DCE4-AA08-4498-C970-641B11334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309" y="1361366"/>
            <a:ext cx="5667857" cy="41352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Integrated diagnostic plot: spectra + 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The target style for student quality-control plots</a:t>
            </a:r>
          </a:p>
        </p:txBody>
      </p:sp>
      <p:pic>
        <p:nvPicPr>
          <p:cNvPr id="6" name="Picture 5" descr="fiber_215_spectral_plus_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85" y="1078991"/>
            <a:ext cx="4343400" cy="57285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160520" cy="27432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Top: observed spectrum, model, and residuals.</a:t>
            </a:r>
          </a:p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Bottom: dereddened photometry and MARCS SED model comparison.</a:t>
            </a:r>
          </a:p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Report flags when spectra, photometry, or abundance methods disagree.</a:t>
            </a:r>
          </a:p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Students learn to justify which quantity should be trusted for the final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4617720"/>
            <a:ext cx="4343400" cy="1051560"/>
          </a:xfrm>
          <a:prstGeom prst="roundRect">
            <a:avLst/>
          </a:prstGeom>
          <a:solidFill>
            <a:srgbClr val="FAF1E7"/>
          </a:solidFill>
          <a:ln w="19050">
            <a:solidFill>
              <a:srgbClr val="CC6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CC6F23"/>
                </a:solidFill>
              </a:defRPr>
            </a:pPr>
            <a:r>
              <a:t>Classroom rule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No single diagnostic wins by default. The final result is a best-practices judgment based on all available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Metallicity checks and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Students compare independent abundance estimates rather than trusting one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463040"/>
            <a:ext cx="4297680" cy="30175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Use CaT equivalent widths plus a luminosity correction to estimate [Fe/H].</a:t>
            </a:r>
          </a:p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Compare [Fe/H]DP with SP_Ace / SPACE spectral fits.</a:t>
            </a:r>
          </a:p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Use the 1:1 line, scatter, and error bars to decide whether methods agree.</a:t>
            </a:r>
          </a:p>
          <a:p>
            <a:pPr>
              <a:spcAft>
                <a:spcPts val="600"/>
              </a:spcAft>
              <a:defRPr sz="1700">
                <a:solidFill>
                  <a:srgbClr val="262626"/>
                </a:solidFill>
              </a:defRPr>
            </a:pPr>
            <a:r>
              <a:t>Flag disagreements instead of hiding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92291" y="4494328"/>
            <a:ext cx="4343400" cy="1051560"/>
          </a:xfrm>
          <a:prstGeom prst="roundRect">
            <a:avLst/>
          </a:prstGeom>
          <a:solidFill>
            <a:srgbClr val="FAF1E7"/>
          </a:solidFill>
          <a:ln w="19050">
            <a:solidFill>
              <a:srgbClr val="CC6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CC6F23"/>
                </a:solidFill>
              </a:defRPr>
            </a:pPr>
            <a:r>
              <a:rPr dirty="0"/>
              <a:t>Best-practice lesson</a:t>
            </a:r>
          </a:p>
          <a:p>
            <a:pPr>
              <a:defRPr sz="1400">
                <a:solidFill>
                  <a:srgbClr val="262626"/>
                </a:solidFill>
              </a:defRPr>
            </a:pPr>
            <a:r>
              <a:rPr dirty="0"/>
              <a:t>The final table should preserve multiple metallicity estimates, uncertainties, and quality flags so students can see how the adopted value was chosen.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0BD36E-757C-EBE3-27D6-522E422A6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7632"/>
            <a:ext cx="7405200" cy="3918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1097280"/>
            <a:ext cx="11247120" cy="5074920"/>
          </a:xfrm>
          <a:prstGeom prst="rect">
            <a:avLst/>
          </a:prstGeom>
          <a:noFill/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Chemical diagnostics and quality flags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6099048"/>
            <a:ext cx="9966960" cy="347472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62626"/>
                </a:solidFill>
              </a:defRPr>
            </a:pPr>
            <a:r>
              <a:t>Tinsley–Wallerstein-style diagrams provide a natural place to discuss abundance ratios, signal-to-noise, and selection bias.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E405E2-595D-FA64-25AF-0AE05552B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41" y="1124459"/>
            <a:ext cx="8530797" cy="49425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D74B10-AA58-37C7-7F77-AB0F15539B0A}"/>
              </a:ext>
            </a:extLst>
          </p:cNvPr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dirty="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359568-3944-35A4-130E-B40FECA72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0"/>
            <a:ext cx="12192000" cy="631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89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Spatial context: from measurements to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Advanced examples motivate why the lower-level skills matter</a:t>
            </a:r>
          </a:p>
        </p:txBody>
      </p:sp>
      <p:pic>
        <p:nvPicPr>
          <p:cNvPr id="6" name="Picture 5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9388"/>
            <a:ext cx="5669280" cy="3187743"/>
          </a:xfrm>
          <a:prstGeom prst="rect">
            <a:avLst/>
          </a:prstGeom>
        </p:spPr>
      </p:pic>
      <p:pic>
        <p:nvPicPr>
          <p:cNvPr id="7" name="Picture 6" descr="slide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06510"/>
            <a:ext cx="5394960" cy="303349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5577840"/>
            <a:ext cx="10607040" cy="50292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62626"/>
                </a:solidFill>
              </a:defRPr>
            </a:pPr>
            <a:r>
              <a:t>Students at the 2000 level do not need to run full dynamical models, but they can understand how clean data products support larger scientific interpretations.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Ten-week 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A quarter-long 2000-level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66360" cy="566928"/>
          </a:xfrm>
          <a:prstGeom prst="roundRect">
            <a:avLst/>
          </a:prstGeom>
          <a:solidFill>
            <a:srgbClr val="EBF3FC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1: Data, notebooks, reproducibility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84248"/>
            <a:ext cx="5166360" cy="566928"/>
          </a:xfrm>
          <a:prstGeom prst="roundRect">
            <a:avLst/>
          </a:prstGeom>
          <a:solidFill>
            <a:srgbClr val="EDF7F0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2: Measurement, units, uncertainty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34056"/>
            <a:ext cx="5166360" cy="566928"/>
          </a:xfrm>
          <a:prstGeom prst="roundRect">
            <a:avLst/>
          </a:prstGeom>
          <a:solidFill>
            <a:srgbClr val="FAF1E7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3: Cleaning, flags, outliers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83864"/>
            <a:ext cx="5166360" cy="566928"/>
          </a:xfrm>
          <a:prstGeom prst="roundRect">
            <a:avLst/>
          </a:prstGeom>
          <a:solidFill>
            <a:srgbClr val="EBF3FC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4: Visualization and CMDs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33672"/>
            <a:ext cx="5166360" cy="566928"/>
          </a:xfrm>
          <a:prstGeom prst="roundRect">
            <a:avLst/>
          </a:prstGeom>
          <a:solidFill>
            <a:srgbClr val="EDF7F0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5: Model fitting and residuals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5166360" cy="566928"/>
          </a:xfrm>
          <a:prstGeom prst="roundRect">
            <a:avLst/>
          </a:prstGeom>
          <a:solidFill>
            <a:srgbClr val="FAF1E7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6: Spectra or light curves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84248"/>
            <a:ext cx="5166360" cy="566928"/>
          </a:xfrm>
          <a:prstGeom prst="roundRect">
            <a:avLst/>
          </a:prstGeom>
          <a:solidFill>
            <a:srgbClr val="EBF3FC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7: Catalog matching and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34056"/>
            <a:ext cx="5166360" cy="566928"/>
          </a:xfrm>
          <a:prstGeom prst="roundRect">
            <a:avLst/>
          </a:prstGeom>
          <a:solidFill>
            <a:srgbClr val="EDF7F0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8: Intro ML: classification / clustering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83864"/>
            <a:ext cx="5166360" cy="566928"/>
          </a:xfrm>
          <a:prstGeom prst="roundRect">
            <a:avLst/>
          </a:prstGeom>
          <a:solidFill>
            <a:srgbClr val="FAF1E7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9: Mini-pipeline work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33672"/>
            <a:ext cx="5166360" cy="566928"/>
          </a:xfrm>
          <a:prstGeom prst="roundRect">
            <a:avLst/>
          </a:prstGeom>
          <a:solidFill>
            <a:srgbClr val="EBF3FC"/>
          </a:solidFill>
          <a:ln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64B"/>
                </a:solidFill>
              </a:defRPr>
            </a:pPr>
            <a:r>
              <a:t>Week 10: Presentations and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257800"/>
            <a:ext cx="9601200" cy="502920"/>
          </a:xfrm>
          <a:prstGeom prst="roundRect">
            <a:avLst/>
          </a:prstGeom>
          <a:solidFill>
            <a:srgbClr val="F5F6F8"/>
          </a:solidFill>
          <a:ln w="1397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262626"/>
                </a:solidFill>
              </a:defRPr>
            </a:pPr>
            <a:r>
              <a:t>Each week produces a notebook artifact: a plot, a fit, a quality check, or a short written interpretation.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510528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A5A5A"/>
                </a:solidFill>
              </a:rPr>
              <a:t>PHYS 2550 / CREL Data Science for Physicists and Scientists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B"/>
                </a:solidFill>
              </a:rPr>
              <a:t>Assessment and responsible AI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007D8C"/>
                </a:solidFill>
              </a:rPr>
              <a:t>Deliverables make scientific reasoning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4937760" cy="82296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00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07D8C"/>
                </a:solidFill>
              </a:defRPr>
            </a:pPr>
            <a:r>
              <a:t>Weekly labs — 40%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Notebook exercises with plots, code, short interpretations, and verification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4937760" cy="822960"/>
          </a:xfrm>
          <a:prstGeom prst="roundRect">
            <a:avLst/>
          </a:prstGeom>
          <a:solidFill>
            <a:srgbClr val="FAF1E7"/>
          </a:solidFill>
          <a:ln w="19050">
            <a:solidFill>
              <a:srgbClr val="CC6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CC6F23"/>
                </a:solidFill>
              </a:defRPr>
            </a:pPr>
            <a:r>
              <a:t>Midterm data-analysis assignment — 20%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A guided analysis that combines cleaning, plotting, fitting, and residual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37560"/>
            <a:ext cx="4937760" cy="822960"/>
          </a:xfrm>
          <a:prstGeom prst="roundRect">
            <a:avLst/>
          </a:prstGeom>
          <a:solidFill>
            <a:srgbClr val="EDF7F0"/>
          </a:solidFill>
          <a:ln w="19050">
            <a:solidFill>
              <a:srgbClr val="48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48845B"/>
                </a:solidFill>
              </a:defRPr>
            </a:pPr>
            <a:r>
              <a:t>Final project — 30%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A reproducible notebook, summary table, diagnostic plots, short report, and 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43400"/>
            <a:ext cx="4937760" cy="8229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6264B"/>
                </a:solidFill>
              </a:defRPr>
            </a:pPr>
            <a:r>
              <a:t>Participation and AI logs — 10%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Peer review, code review, and documentation of AI-assisted coding or explanation.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274320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AI-generated code must be run and tested.</a:t>
            </a:r>
          </a:p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Students must document meaningful AI use.</a:t>
            </a:r>
          </a:p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Plots, residuals, and simple sanity checks are required evidence.</a:t>
            </a:r>
          </a:p>
          <a:p>
            <a:pPr>
              <a:spcAft>
                <a:spcPts val="600"/>
              </a:spcAft>
              <a:defRPr sz="1800">
                <a:solidFill>
                  <a:srgbClr val="262626"/>
                </a:solidFill>
              </a:defRPr>
            </a:pPr>
            <a:r>
              <a:t>Students explain the scientific reasoning in their own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4937760" cy="100584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16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16264B"/>
                </a:solidFill>
              </a:defRPr>
            </a:pPr>
            <a:r>
              <a:t>Long-term growth</a:t>
            </a:r>
          </a:p>
          <a:p>
            <a:pPr>
              <a:spcAft>
                <a:spcPts val="0"/>
              </a:spcAft>
              <a:defRPr sz="1400">
                <a:solidFill>
                  <a:srgbClr val="262626"/>
                </a:solidFill>
              </a:defRPr>
            </a:pPr>
            <a:r>
              <a:t>This lower-level course can seed a later 4xxx/5xxx astrophysics data-science course with more advanced statistics, machine learning, and large-scale surveys.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1336</Words>
  <Application>Microsoft Office PowerPoint</Application>
  <PresentationFormat>Widescreen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Joanne Hughes Clark</cp:lastModifiedBy>
  <cp:revision>4</cp:revision>
  <dcterms:created xsi:type="dcterms:W3CDTF">2013-01-27T09:14:16Z</dcterms:created>
  <dcterms:modified xsi:type="dcterms:W3CDTF">2026-06-16T19:55:57Z</dcterms:modified>
  <cp:category/>
</cp:coreProperties>
</file>