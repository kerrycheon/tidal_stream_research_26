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One-liner: We are building an N-body code to measure how fast globular clusters lose mass to the galactic tide. Before we trust it on our real target (NGC 6569), we reproduce a published study — Chen et al. 2024 — so we have a known answer to check against.</a:t>
            </a:r>
          </a:p>
          <a:p/>
          <a:p>
            <a:r>
              <a:t>Two goals: (1) stand up and validate our collisionless N-body pipeline; (2) once trusted, run it on real NGC 6569 to get a true mass-loss rate — something particle-spray methods can't give because their tracer particles are massless.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Same four steps whether it's Chen's synthetic cluster or real NGC 6569 — only the numbers change.</a:t>
            </a:r>
          </a:p>
          <a:p/>
          <a:p>
            <a:r>
              <a:t>1) Turn orbit parameters into a starting position and velocity (energy + angular momentum conservation). 2) Build a realistic cluster with a King model, cut off at the tidal radius. 3) Integrate everything forward with the leapfrog N-body solver. 4) After each step, figure out which stars are still gravitationally bound — that gives the mass vs time curve.</a:t>
            </a:r>
          </a:p>
          <a:p/>
          <a:p>
            <a:r>
              <a:t>I'm factoring the pieces into small reusable, testable functions. The orbit one is done; tidal radius / King / orbit-check are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heart of the validation. Chen's Fig. 11 shows mass loss under four sweeps — cluster concentration W, timestep τ, softening ε, and star mass m. We run the identical setup and overlay our curves.</a:t>
            </a:r>
          </a:p>
          <a:p/>
          <a:p>
            <a:r>
              <a:t>Where we are: the notebook runs end to end, the orbit reproduces peri/apo/e exactly, and the cluster geometry is sane. The remaining piece is the long 3-Gyr production run (a couple hours).</a:t>
            </a:r>
          </a:p>
          <a:p/>
          <a:p>
            <a:r>
              <a:t>The single number to watch: the fiducial curve should land at ~0.70–0.72 of the starting mass after 3 Gyr. If it does, the code is trustworthy. (Replace the grey placeholder with the real figure once the run finishes.)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roadmap. Right now: finish the production run and make the comparison figure. If it matches, we've earned trust in the code. Then we point the same machinery at the real target — NGC 6569 — with its actual measured orbit and a modern Milky Way potential.</a:t>
            </a:r>
          </a:p>
          <a:p/>
          <a:p>
            <a:r>
              <a:t>The payoff is a genuine mass-loss rate for NGC 6569, which the faster particle-spray methods can't produce because their particles carry no mass.</a:t>
            </a:r>
          </a:p>
          <a:p/>
          <a:p>
            <a:r>
              <a:t>Ask the group to gut-check two things: the 0.70–0.72 pass criterion, and the orbit inputs I'll use for NGC 6569.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Validating an N-body Code for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Globular-Cluster Mass Loss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B9C7DE"/>
                </a:solidFill>
                <a:latin typeface="Calibri"/>
              </a:rPr>
              <a:t>Reproducing Chen et al. (2024) as ground truth, then applying it to NGC 6569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8C9AB4"/>
                </a:solidFill>
                <a:latin typeface="Calibri"/>
              </a:rPr>
              <a:t>Kerry Cheon   ·   Group meeting   ·   </a:t>
            </a:r>
            <a:r>
              <a:rPr sz="1500" b="0" i="1">
                <a:solidFill>
                  <a:srgbClr val="8C9AB4"/>
                </a:solidFill>
                <a:latin typeface="Calibri"/>
              </a:rPr>
              <a:t>Two goals: (1) build + validate the code   (2) measure NGC 6569's true mass loss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635"/>
                </a:solidFill>
                <a:latin typeface="Calibri"/>
              </a:rPr>
              <a:t>The Method: a 4-stage N-body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522143" cy="1143000"/>
          </a:xfrm>
          <a:prstGeom prst="rect">
            <a:avLst/>
          </a:prstGeom>
          <a:solidFill>
            <a:srgbClr val="EBF1FB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B2635"/>
                </a:solidFill>
                <a:latin typeface="Calibri"/>
              </a:rPr>
              <a:t>Orbit</a:t>
            </a:r>
          </a:p>
          <a:p>
            <a:pPr algn="ctr"/>
            <a:r>
              <a:rPr sz="1500" b="0" i="0">
                <a:solidFill>
                  <a:srgbClr val="1B2635"/>
                </a:solidFill>
                <a:latin typeface="Calibri"/>
              </a:rPr>
              <a:t>initial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3935" y="18745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2F6FED"/>
                </a:solidFill>
                <a:latin typeface="Calibri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436543" y="1554480"/>
            <a:ext cx="2522143" cy="1143000"/>
          </a:xfrm>
          <a:prstGeom prst="rect">
            <a:avLst/>
          </a:prstGeom>
          <a:solidFill>
            <a:srgbClr val="EBF1FB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B2635"/>
                </a:solidFill>
                <a:latin typeface="Calibri"/>
              </a:rPr>
              <a:t>King-model</a:t>
            </a:r>
          </a:p>
          <a:p>
            <a:pPr algn="ctr"/>
            <a:r>
              <a:rPr sz="1500" b="0" i="0">
                <a:solidFill>
                  <a:srgbClr val="1B2635"/>
                </a:solidFill>
                <a:latin typeface="Calibri"/>
              </a:rPr>
              <a:t>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0399" y="18745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2F6FED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2522143" cy="1143000"/>
          </a:xfrm>
          <a:prstGeom prst="rect">
            <a:avLst/>
          </a:prstGeom>
          <a:solidFill>
            <a:srgbClr val="EBF1FB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B2635"/>
                </a:solidFill>
                <a:latin typeface="Calibri"/>
              </a:rPr>
              <a:t>falcON</a:t>
            </a:r>
          </a:p>
          <a:p>
            <a:pPr algn="ctr"/>
            <a:r>
              <a:rPr sz="1500" b="0" i="0">
                <a:solidFill>
                  <a:srgbClr val="1B2635"/>
                </a:solidFill>
                <a:latin typeface="Calibri"/>
              </a:rPr>
              <a:t>N-body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6863" y="18745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2F6FED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29471" y="1554480"/>
            <a:ext cx="2522143" cy="1143000"/>
          </a:xfrm>
          <a:prstGeom prst="rect">
            <a:avLst/>
          </a:prstGeom>
          <a:solidFill>
            <a:srgbClr val="EBF1FB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B2635"/>
                </a:solidFill>
                <a:latin typeface="Calibri"/>
              </a:rPr>
              <a:t>Bound-mass</a:t>
            </a:r>
          </a:p>
          <a:p>
            <a:pPr algn="ctr"/>
            <a:r>
              <a:rPr sz="1500" b="0" i="0">
                <a:solidFill>
                  <a:srgbClr val="1B2635"/>
                </a:solidFill>
                <a:latin typeface="Calibri"/>
              </a:rPr>
              <a:t>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67665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2F6FED"/>
                </a:solidFill>
                <a:latin typeface="Calibri"/>
              </a:rPr>
              <a:t>•  What each stage does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1B2635"/>
                </a:solidFill>
                <a:latin typeface="Calibri"/>
              </a:rPr>
              <a:t>–  Parameters (R_apo, R_peri) → position + velocity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1B2635"/>
                </a:solidFill>
                <a:latin typeface="Calibri"/>
              </a:rPr>
              <a:t>–  King W-model, truncated at the tidal radius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1B2635"/>
                </a:solidFill>
                <a:latin typeface="Calibri"/>
              </a:rPr>
              <a:t>–  Leapfrog integrator (kdk), softened gravity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1B2635"/>
                </a:solidFill>
                <a:latin typeface="Calibri"/>
              </a:rPr>
              <a:t>–  Iteratively strip unbound stars → M(t)</a:t>
            </a:r>
          </a:p>
          <a:p>
            <a:pPr>
              <a:spcAft>
                <a:spcPts val="700"/>
              </a:spcAft>
            </a:pPr>
            <a:r>
              <a:rPr sz="1700" b="1" i="0">
                <a:solidFill>
                  <a:srgbClr val="2F6FED"/>
                </a:solidFill>
                <a:latin typeface="Calibri"/>
              </a:rPr>
              <a:t>•  Reusable building blocks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1F9D55"/>
                </a:solidFill>
                <a:latin typeface="Calibri"/>
              </a:rPr>
              <a:t>–  gc_initial_conditions.py — done &amp; tested</a:t>
            </a:r>
          </a:p>
          <a:p>
            <a:pPr lvl="1">
              <a:spcAft>
                <a:spcPts val="700"/>
              </a:spcAft>
            </a:pPr>
            <a:r>
              <a:rPr sz="1700" b="0" i="0">
                <a:solidFill>
                  <a:srgbClr val="1B2635"/>
                </a:solidFill>
                <a:latin typeface="Calibri"/>
              </a:rPr>
              <a:t>–  tidal_radius, king_model, orbit_diagnostics — next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017520"/>
            <a:ext cx="3749039" cy="3200400"/>
          </a:xfrm>
          <a:prstGeom prst="rect">
            <a:avLst/>
          </a:prstGeom>
          <a:solidFill>
            <a:srgbClr val="F4F7FC"/>
          </a:solidFill>
          <a:ln w="12700">
            <a:solidFill>
              <a:srgbClr val="D3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600" b="1" i="0">
                <a:solidFill>
                  <a:srgbClr val="1B2635"/>
                </a:solidFill>
                <a:latin typeface="Calibri"/>
              </a:rPr>
              <a:t>Test case (Chen 2024)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B6672"/>
                </a:solidFill>
                <a:latin typeface="Calibri"/>
              </a:rPr>
              <a:t>· M₀ = 10⁵ M☉,  m = 10 M☉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B6672"/>
                </a:solidFill>
                <a:latin typeface="Calibri"/>
              </a:rPr>
              <a:t>· Orbit: R_apo 40 kpc, e = 0.6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B6672"/>
                </a:solidFill>
                <a:latin typeface="Calibri"/>
              </a:rPr>
              <a:t>· MWPotential2014, in-plane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B6672"/>
                </a:solidFill>
                <a:latin typeface="Calibri"/>
              </a:rPr>
              <a:t>· King W = 8,  ε = 1 pc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5B6672"/>
                </a:solidFill>
                <a:latin typeface="Calibri"/>
              </a:rPr>
              <a:t>· τ = 2⁻¹³,  integrate 3 Gyr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635"/>
                </a:solidFill>
                <a:latin typeface="Calibri"/>
              </a:rPr>
              <a:t>Validation: reproducing Chen et al. Fig.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1">
                <a:solidFill>
                  <a:srgbClr val="5B6672"/>
                </a:solidFill>
                <a:latin typeface="Calibri"/>
              </a:rPr>
              <a:t>Do our mass-loss curves match the paper's across 4 parameter sweeps?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12064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CED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8660" y="208026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sz="1200" b="0" i="1">
                <a:solidFill>
                  <a:srgbClr val="5B6672"/>
                </a:solidFill>
                <a:latin typeface="Calibri"/>
              </a:rPr>
              <a:t>  vary 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8980" y="208026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sz="1200" b="0" i="1">
                <a:solidFill>
                  <a:srgbClr val="5B6672"/>
                </a:solidFill>
                <a:latin typeface="Calibri"/>
              </a:rPr>
              <a:t>  vary τ (timestep)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" y="418338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sz="1200" b="0" i="1">
                <a:solidFill>
                  <a:srgbClr val="5B6672"/>
                </a:solidFill>
                <a:latin typeface="Calibri"/>
              </a:rPr>
              <a:t>  vary ε (softening)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4183380"/>
            <a:ext cx="2423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sz="1200" b="0" i="1">
                <a:solidFill>
                  <a:srgbClr val="5B6672"/>
                </a:solidFill>
                <a:latin typeface="Calibri"/>
              </a:rPr>
              <a:t>  vary m (star mass)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0">
                <a:solidFill>
                  <a:srgbClr val="5B6672"/>
                </a:solidFill>
                <a:latin typeface="Calibri"/>
              </a:rPr>
              <a:t>M(t)/M₀  vs  t  [Gyr]   — placeholder for generated 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5486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F6FED"/>
                </a:solidFill>
                <a:latin typeface="Calibri"/>
              </a:rPr>
              <a:t>•  Pipeline status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1F9D55"/>
                </a:solidFill>
                <a:latin typeface="Calibri"/>
              </a:rPr>
              <a:t>–  Standalone validation notebook built &amp; smoke-tested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1F9D55"/>
                </a:solidFill>
                <a:latin typeface="Calibri"/>
              </a:rPr>
              <a:t>–  Orbit checks out: peri 10.0, apo 40.0, e = 0.600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1F9D55"/>
                </a:solidFill>
                <a:latin typeface="Calibri"/>
              </a:rPr>
              <a:t>–  r_tid ≈ 209 pc,  King c(W=8) ≈ 68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1B2635"/>
                </a:solidFill>
                <a:latin typeface="Calibri"/>
              </a:rPr>
              <a:t>–  Full 3-Gyr sweep queued (~2–3 h compute)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F6FED"/>
                </a:solidFill>
                <a:latin typeface="Calibri"/>
              </a:rPr>
              <a:t>•  Pass criterion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1B2635"/>
                </a:solidFill>
                <a:latin typeface="Calibri"/>
              </a:rPr>
              <a:t>–  Fiducial curve reaches M/M₀ ≈ 0.70–0.72 at 3 Gyr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1B2635"/>
                </a:solidFill>
                <a:latin typeface="Calibri"/>
              </a:rPr>
              <a:t>–  W = 2 falls fastest;  τ panel non-converged (expected)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1B2635"/>
                </a:solidFill>
                <a:latin typeface="Calibri"/>
              </a:rPr>
              <a:t>Where this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371600" cy="86868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371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554480"/>
            <a:ext cx="9235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0" i="0">
                <a:solidFill>
                  <a:srgbClr val="1B2635"/>
                </a:solidFill>
                <a:latin typeface="Calibri"/>
              </a:rPr>
              <a:t>Finish the 3-Gyr Chen reproduction run; overlay all 4 panels vs the paper.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61488"/>
            <a:ext cx="1371600" cy="8686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61488"/>
            <a:ext cx="1371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761488"/>
            <a:ext cx="9235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0" i="0">
                <a:solidFill>
                  <a:srgbClr val="1B2635"/>
                </a:solidFill>
                <a:latin typeface="Calibri"/>
              </a:rPr>
              <a:t>Confirm the match → the N-body code is validated ground-truth-tested.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68496"/>
            <a:ext cx="1371600" cy="8686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68496"/>
            <a:ext cx="1371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968496"/>
            <a:ext cx="9235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0" i="0">
                <a:solidFill>
                  <a:srgbClr val="1B2635"/>
                </a:solidFill>
                <a:latin typeface="Calibri"/>
              </a:rPr>
              <a:t>Swap in real NGC 6569: measured orbit (Gaia), Hunter+24 rotating potential.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75504"/>
            <a:ext cx="1371600" cy="868680"/>
          </a:xfrm>
          <a:prstGeom prst="rect">
            <a:avLst/>
          </a:prstGeom>
          <a:solidFill>
            <a:srgbClr val="1B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75504"/>
            <a:ext cx="1371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5175504"/>
            <a:ext cx="9235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0" i="0">
                <a:solidFill>
                  <a:srgbClr val="1B2635"/>
                </a:solidFill>
                <a:latin typeface="Calibri"/>
              </a:rPr>
              <a:t>Report NGC 6569's true mass-loss rate — beyond what particle spray can give.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5B6672"/>
                </a:solidFill>
                <a:latin typeface="Calibri"/>
              </a:rPr>
              <a:t>Ask for the group: sanity-check the pass criterion &amp; the NGC 6569 orbit inputs.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